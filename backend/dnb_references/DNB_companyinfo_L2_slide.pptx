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58187C"/>
                </a:solidFill>
              </a:rPr>
              <a:t>Summary of DNB Data Blocks and Data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8187C"/>
                </a:solidFill>
              </a:rPr>
              <a:t>Data Block: companyinfo_L2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27017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5818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Key Data Elements</a:t>
                      </a:r>
                    </a:p>
                  </a:txBody>
                  <a:tcPr>
                    <a:solidFill>
                      <a:srgbClr val="5818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Purpose / Business Meaning</a:t>
                      </a:r>
                    </a:p>
                  </a:txBody>
                  <a:tcPr>
                    <a:solidFill>
                      <a:srgbClr val="5818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KDE Type</a:t>
                      </a:r>
                    </a:p>
                  </a:txBody>
                  <a:tcPr>
                    <a:solidFill>
                      <a:srgbClr val="58187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D-U-N-S, Legal Name, Primary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Unique business identification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Identity KDE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E6D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Operating Status, Sub-status</a:t>
                      </a:r>
                    </a:p>
                  </a:txBody>
                  <a:tcPr>
                    <a:solidFill>
                      <a:srgbClr val="E6D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Company lifecycle &amp; risk</a:t>
                      </a:r>
                    </a:p>
                  </a:txBody>
                  <a:tcPr>
                    <a:solidFill>
                      <a:srgbClr val="E6D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Risk KDE</a:t>
                      </a:r>
                    </a:p>
                  </a:txBody>
                  <a:tcPr>
                    <a:solidFill>
                      <a:srgbClr val="E6D7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Marketability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Marketable, Delisted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Contact &amp; compliance eligibility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Compliance KDE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Contactability</a:t>
                      </a:r>
                    </a:p>
                  </a:txBody>
                  <a:tcPr>
                    <a:solidFill>
                      <a:srgbClr val="E6D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Phone, Email, Website</a:t>
                      </a:r>
                    </a:p>
                  </a:txBody>
                  <a:tcPr>
                    <a:solidFill>
                      <a:srgbClr val="E6D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Reachability</a:t>
                      </a:r>
                    </a:p>
                  </a:txBody>
                  <a:tcPr>
                    <a:solidFill>
                      <a:srgbClr val="E6D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Operational KDE</a:t>
                      </a:r>
                    </a:p>
                  </a:txBody>
                  <a:tcPr>
                    <a:solidFill>
                      <a:srgbClr val="E6D7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Primary Address, Geo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Jurisdiction &amp; presence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Jurisdiction KDE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Naming</a:t>
                      </a:r>
                    </a:p>
                  </a:txBody>
                  <a:tcPr>
                    <a:solidFill>
                      <a:srgbClr val="E6D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Trade Names, Former Names</a:t>
                      </a:r>
                    </a:p>
                  </a:txBody>
                  <a:tcPr>
                    <a:solidFill>
                      <a:srgbClr val="E6D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Identity continuity</a:t>
                      </a:r>
                    </a:p>
                  </a:txBody>
                  <a:tcPr>
                    <a:solidFill>
                      <a:srgbClr val="E6D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Historical KDE</a:t>
                      </a:r>
                    </a:p>
                  </a:txBody>
                  <a:tcPr>
                    <a:solidFill>
                      <a:srgbClr val="E6D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