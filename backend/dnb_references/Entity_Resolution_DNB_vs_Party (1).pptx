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Entity Resolution</a:t>
            </a:r>
          </a:p>
          <a:p>
            <a:r>
              <a:t>D&amp;B and Party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entities are identified, matched, and governed</a:t>
            </a:r>
          </a:p>
          <a:p>
            <a:r>
              <a:t>Consultative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Entity Resolution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Same real-world entity appears multiple times across systems</a:t>
            </a:r>
          </a:p>
          <a:p>
            <a:pPr/>
            <a:r>
              <a:t>Variations in name, address, identifiers, and lifecycle</a:t>
            </a:r>
          </a:p>
          <a:p>
            <a:pPr/>
            <a:r>
              <a:t>Impacts risk, regulation, reporting, and customer experience</a:t>
            </a:r>
          </a:p>
          <a:p>
            <a:pPr/>
            <a:r>
              <a:t>Goal: one canonical entity with known confidence and lineage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KDE Classification Model (Shared Language)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 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CRN, LEI, D-U-N-S, Tax ID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probabilistic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 Name, Country, Legal Form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Supporting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Trading Name, SIC, Contacts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Resolution Lifecycle (Common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 ingestion and standardisation</a:t>
            </a:r>
          </a:p>
          <a:p>
            <a:pPr/>
            <a:r>
              <a:t>KDE extraction and tiering</a:t>
            </a:r>
          </a:p>
          <a:p>
            <a:pPr/>
            <a:r>
              <a:t>Candidate generation</a:t>
            </a:r>
          </a:p>
          <a:p>
            <a:pPr/>
            <a:r>
              <a:t>Scoring and threshold evaluation</a:t>
            </a:r>
          </a:p>
          <a:p>
            <a:pPr/>
            <a:r>
              <a:t>Decision, survivorship, and persistence</a:t>
            </a:r>
          </a:p>
          <a:p>
            <a:pPr/>
            <a:r>
              <a:t>Ongoing monitoring and re-evaluation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D&amp;B Entity Resolution – Core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D&amp;B resolves real-world legal entities globally</a:t>
            </a:r>
          </a:p>
          <a:p>
            <a:pPr/>
            <a:r>
              <a:t>Each resolved entity is assigned a D-U-N-S Number</a:t>
            </a:r>
          </a:p>
          <a:p>
            <a:pPr/>
            <a:r>
              <a:t>Resolution occurs before data is exposed to customers</a:t>
            </a:r>
          </a:p>
          <a:p>
            <a:pPr/>
            <a:r>
              <a:t>Registry-led, identifier-first, globally consistent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D&amp;B Key Matching Signals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KDE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D-U-N-S, CRN, LEI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Registered Name, Jurisdiction, Entity Type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Trading Name, SIC, Address components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D&amp;B Matching Logic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Deterministic identifier matching where available</a:t>
            </a:r>
          </a:p>
          <a:p>
            <a:pPr/>
            <a:r>
              <a:t>Probabilistic scoring using weighted KDEs</a:t>
            </a:r>
          </a:p>
          <a:p>
            <a:pPr/>
            <a:r>
              <a:t>Jurisdiction-aware and legal-structure-aware rules</a:t>
            </a:r>
          </a:p>
          <a:p>
            <a:pPr/>
            <a:r>
              <a:t>Human expert review for edge and exception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D&amp;B Resolution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New D-U-N-S created</a:t>
            </a:r>
          </a:p>
          <a:p>
            <a:pPr/>
            <a:r>
              <a:t>Existing D-U-N-S reused</a:t>
            </a:r>
          </a:p>
          <a:p>
            <a:pPr/>
            <a:r>
              <a:t>Records merged or split</a:t>
            </a:r>
          </a:p>
          <a:p>
            <a:pPr/>
            <a:r>
              <a:t>Customer always consumes the post-resolution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Party Entity Resolution – Core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Party resolves bank customers into a Golden Party Record</a:t>
            </a:r>
          </a:p>
          <a:p>
            <a:pPr/>
            <a:r>
              <a:t>Uses internal data and external sources such as D&amp;B</a:t>
            </a:r>
          </a:p>
          <a:p>
            <a:pPr/>
            <a:r>
              <a:t>Resolution is risk-driven and use-case driven</a:t>
            </a:r>
          </a:p>
          <a:p>
            <a:pPr/>
            <a:r>
              <a:t>Explainability and auditability are mandatory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Party KDE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KDE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Authoritative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Customer ID, CRN, LEI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Registered Name, Legal Form, Status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Tier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Trading Name, SIC, Contact details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Party Matching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Inbound customer or data feed</a:t>
            </a:r>
          </a:p>
          <a:p>
            <a:pPr/>
            <a:r>
              <a:t>Candidate search using KDEs</a:t>
            </a:r>
          </a:p>
          <a:p>
            <a:pPr/>
            <a:r>
              <a:t>Scoring across KDE tiers</a:t>
            </a:r>
          </a:p>
          <a:p>
            <a:pPr/>
            <a:r>
              <a:t>Threshold-based decision</a:t>
            </a:r>
          </a:p>
          <a:p>
            <a:pPr/>
            <a:r>
              <a:t>Auto-link, create new party, or manual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Resolution Planes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D&amp;B plane: resolves real-world legal entities</a:t>
            </a:r>
          </a:p>
          <a:p>
            <a:pPr/>
            <a:r>
              <a:t>Party plane: resolves bank customers</a:t>
            </a:r>
          </a:p>
          <a:p>
            <a:pPr/>
            <a:r>
              <a:t>D-U-N-S acts as the anchor between the two</a:t>
            </a:r>
          </a:p>
          <a:p>
            <a:pPr/>
            <a:r>
              <a:t>Party does not re-resolve D&amp;B entities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Integration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D-U-N-S as Tier 1 anchor when available</a:t>
            </a:r>
          </a:p>
          <a:p>
            <a:pPr/>
            <a:r>
              <a:t>Use CRN, Name, and Address to discover candidate D-U-N-S</a:t>
            </a:r>
          </a:p>
          <a:p>
            <a:pPr/>
            <a:r>
              <a:t>Independently score Party match confidence</a:t>
            </a:r>
          </a:p>
          <a:p>
            <a:pPr/>
            <a:r>
              <a:t>Persist linkage, confidence, and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Conflict Scenarios and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Multiple D-U-N-S candidates → manual review</a:t>
            </a:r>
          </a:p>
          <a:p>
            <a:pPr/>
            <a:r>
              <a:t>D&amp;B merge or split → re-evaluate Party links</a:t>
            </a:r>
          </a:p>
          <a:p>
            <a:pPr/>
            <a:r>
              <a:t>Stronger Party evidence → feedback to D&amp;B, not silent override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D&amp;B resolves entities; Party resolves customers</a:t>
            </a:r>
          </a:p>
          <a:p>
            <a:pPr/>
            <a:r>
              <a:t>KDE tiering is the shared language</a:t>
            </a:r>
          </a:p>
          <a:p>
            <a:pPr/>
            <a:r>
              <a:t>D-U-N-S is the bridge, not the master customer ID</a:t>
            </a:r>
          </a:p>
          <a:p>
            <a:pPr/>
            <a:r>
              <a:t>Confidence, lineage, and governance are essential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Is this understanding of D&amp;B resolution accurate?</a:t>
            </a:r>
          </a:p>
          <a:p>
            <a:pPr/>
            <a:r>
              <a:t>Are KDE tiers and their strength aligned?</a:t>
            </a:r>
          </a:p>
          <a:p>
            <a:pPr/>
            <a:r>
              <a:t>How should merge and split events be consumed?</a:t>
            </a:r>
          </a:p>
          <a:p>
            <a:pPr/>
            <a:r>
              <a:t>What confidence signals should Party rely 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